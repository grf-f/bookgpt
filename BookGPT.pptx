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imo Bold" charset="1" panose="020B0704020202020204"/>
      <p:regular r:id="rId21"/>
    </p:embeddedFont>
    <p:embeddedFont>
      <p:font typeface="Open Sans" charset="1" panose="00000000000000000000"/>
      <p:regular r:id="rId22"/>
    </p:embeddedFont>
    <p:embeddedFont>
      <p:font typeface="Open Sans Bold" charset="1" panose="00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notesSlides/notesSlide11.xml" Type="http://schemas.openxmlformats.org/officeDocument/2006/relationships/notesSlide"/><Relationship Id="rId34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407148"/>
            <a:ext cx="70882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BookGPT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425581"/>
            <a:ext cx="14438709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Интеллектуальный Анализатор Текста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4511878"/>
            <a:ext cx="163035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Веб-приложение для мгновенного анализа больших текстов с AI-ассистентом на базе YandexGPT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5284441"/>
            <a:ext cx="16303523" cy="414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Выполнено для международного фестиваля «ТехноСтрелка» направления «Цифровой вызов». От KimPinTeam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6057005"/>
            <a:ext cx="163035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62"/>
              </a:lnSpc>
            </a:pPr>
            <a:r>
              <a:rPr lang="en-US" sz="2187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Выполнили: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6829577"/>
            <a:ext cx="1630352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62"/>
              </a:lnSpc>
            </a:pPr>
            <a:r>
              <a:rPr lang="en-US" sz="2187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Афонин Александр</a:t>
            </a:r>
          </a:p>
          <a:p>
            <a:pPr algn="r">
              <a:lnSpc>
                <a:spcPts val="3562"/>
              </a:lnSpc>
            </a:pPr>
            <a:r>
              <a:rPr lang="en-US" sz="2187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Щербаков Вадим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72703" y="1136304"/>
            <a:ext cx="6473666" cy="614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7"/>
              </a:lnSpc>
            </a:pPr>
            <a:r>
              <a:rPr lang="en-US" sz="3749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Наша Команда KimPinTeam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2703" y="1808112"/>
            <a:ext cx="8581873" cy="508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00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Кто мы и почему у нас получилось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72703" y="2659113"/>
            <a:ext cx="3375870" cy="3462338"/>
            <a:chOff x="0" y="0"/>
            <a:chExt cx="4501159" cy="461645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4501134" cy="4616450"/>
            </a:xfrm>
            <a:custGeom>
              <a:avLst/>
              <a:gdLst/>
              <a:ahLst/>
              <a:cxnLst/>
              <a:rect r="r" b="b" t="t" l="l"/>
              <a:pathLst>
                <a:path h="4616450" w="4501134">
                  <a:moveTo>
                    <a:pt x="0" y="0"/>
                  </a:moveTo>
                  <a:lnTo>
                    <a:pt x="4501134" y="0"/>
                  </a:lnTo>
                  <a:lnTo>
                    <a:pt x="4501134" y="4616450"/>
                  </a:lnTo>
                  <a:lnTo>
                    <a:pt x="0" y="4616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8" r="0" b="-128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72703" y="6239466"/>
            <a:ext cx="3728742" cy="38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Афонин Александр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2703" y="6739528"/>
            <a:ext cx="8236896" cy="27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500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Backend разработчик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2703" y="7114880"/>
            <a:ext cx="8236896" cy="535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5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Архитектура приложения, интеграция с YandexGPT API, оптимизация работы с большими текстами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387926" y="2659113"/>
            <a:ext cx="2931319" cy="4393406"/>
            <a:chOff x="0" y="0"/>
            <a:chExt cx="3908425" cy="5857875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3908425" cy="5857875"/>
            </a:xfrm>
            <a:custGeom>
              <a:avLst/>
              <a:gdLst/>
              <a:ahLst/>
              <a:cxnLst/>
              <a:rect r="r" b="b" t="t" l="l"/>
              <a:pathLst>
                <a:path h="5857875" w="3908425">
                  <a:moveTo>
                    <a:pt x="0" y="0"/>
                  </a:moveTo>
                  <a:lnTo>
                    <a:pt x="3908425" y="0"/>
                  </a:lnTo>
                  <a:lnTo>
                    <a:pt x="3908425" y="5857875"/>
                  </a:lnTo>
                  <a:lnTo>
                    <a:pt x="0" y="58578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7" t="0" r="-67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387926" y="7170534"/>
            <a:ext cx="3331073" cy="38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Щербаков Вадим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87926" y="7670597"/>
            <a:ext cx="8236896" cy="27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500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Frontend разработчик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87926" y="8045948"/>
            <a:ext cx="8236896" cy="27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5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UI/UX дизайн, адаптивная верстка, мобильная адаптация, анимации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72703" y="8567890"/>
            <a:ext cx="16942594" cy="535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5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Мы объединились, чтобы создать инструмент, который делает работу с большими текстами быстрой и эффективной с помощью современных AI-технологий. Наша мотивация — помочь людям экономить часы работы с документами, книгами и другими текстовыми материалами.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011136"/>
            <a:ext cx="5316141" cy="702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7"/>
              </a:lnSpc>
            </a:pPr>
            <a:r>
              <a:rPr lang="en-US" sz="4124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Цели Проекта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739351"/>
            <a:ext cx="6338145" cy="56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Что мы хотели достичь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2688584"/>
            <a:ext cx="2658066" cy="351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3074937"/>
            <a:ext cx="5908177" cy="42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Универсальный инструмент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3623367"/>
            <a:ext cx="7892358" cy="633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Создать систему для анализа текстов любой длины с интуитивным интерфейсом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12929" y="2688584"/>
            <a:ext cx="2658066" cy="351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12929" y="3074937"/>
            <a:ext cx="5891955" cy="42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Обработка больших текстов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12929" y="3623367"/>
            <a:ext cx="7892358" cy="633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Обеспечить качественную обработку до 10 МБ и более без потери производительности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238" y="4719933"/>
            <a:ext cx="2658066" cy="351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238" y="5106295"/>
            <a:ext cx="3189684" cy="42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AI-интеграция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2238" y="5654726"/>
            <a:ext cx="7892358" cy="633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Интегрировать чат-ассистента для интерактивной работы с текстом в реальном времени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12929" y="4719933"/>
            <a:ext cx="2658066" cy="351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04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12929" y="5106295"/>
            <a:ext cx="3189684" cy="42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Умный поиск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12929" y="5654726"/>
            <a:ext cx="7892358" cy="633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Реализовать контекстный поиск фрагментов по ключевым словам и смыслу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2238" y="6751291"/>
            <a:ext cx="2658066" cy="351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05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2238" y="7137644"/>
            <a:ext cx="5171180" cy="42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Кроссплатформенность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2238" y="7686084"/>
            <a:ext cx="7892358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Обеспечить работу на десктопе, планшетах и мобильных устройствах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12929" y="6751291"/>
            <a:ext cx="2658066" cy="351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412929" y="7137644"/>
            <a:ext cx="3189684" cy="42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Доступность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12929" y="7686084"/>
            <a:ext cx="7892358" cy="633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Сделать интерфейс понятным для пользователей без технической подготовки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2238" y="8604199"/>
            <a:ext cx="16303523" cy="633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Ожидаемый результат:</a:t>
            </a:r>
            <a:r>
              <a:rPr lang="en-US" sz="16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Инструмент, который экономит часы работы с текстом, предоставляя мгновенное краткое содержание и возможность задавать вопросы по контексту.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019766"/>
            <a:ext cx="6379521" cy="845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4999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О Проекте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918545"/>
            <a:ext cx="8142980" cy="675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400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BookGPT - Что это такое?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3078804"/>
            <a:ext cx="7840561" cy="2005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BookGPT — это веб-приложение для интеллектуального анализа текстов на русском языке с использованием нейросетей YandexGPT. Приложение позволяет загружать большие текстовые файлы, получать их краткое содержание и взаимодействовать с текстом через чат-ассистента.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5285784"/>
            <a:ext cx="6130681" cy="507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00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Ключевые возможности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5955802"/>
            <a:ext cx="7840561" cy="318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2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Загрузка текстов (ручной ввод, файл .txt, тестовая книга)</a:t>
            </a:r>
          </a:p>
          <a:p>
            <a:pPr algn="l" marL="301625" indent="-150812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Генерация краткого содержания</a:t>
            </a:r>
          </a:p>
          <a:p>
            <a:pPr algn="l" marL="301625" indent="-150812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Чат с AI по контексту текста</a:t>
            </a:r>
          </a:p>
          <a:p>
            <a:pPr algn="l" marL="301625" indent="-150812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Два режима работы: "Вопрос" и "Поиск"</a:t>
            </a:r>
          </a:p>
          <a:p>
            <a:pPr algn="l" marL="301625" indent="-150812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Опциональное подключение интернета для расширенных ответов</a:t>
            </a:r>
          </a:p>
          <a:p>
            <a:pPr algn="l" marL="301625" indent="-150812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Адаптивный дизайн под все устройства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464726" y="3197276"/>
            <a:ext cx="7056387" cy="3847805"/>
            <a:chOff x="0" y="0"/>
            <a:chExt cx="9408516" cy="5130406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9408541" cy="5130419"/>
            </a:xfrm>
            <a:custGeom>
              <a:avLst/>
              <a:gdLst/>
              <a:ahLst/>
              <a:cxnLst/>
              <a:rect r="r" b="b" t="t" l="l"/>
              <a:pathLst>
                <a:path h="5130419" w="9408541">
                  <a:moveTo>
                    <a:pt x="0" y="0"/>
                  </a:moveTo>
                  <a:lnTo>
                    <a:pt x="9408541" y="0"/>
                  </a:lnTo>
                  <a:lnTo>
                    <a:pt x="9408541" y="5130419"/>
                  </a:lnTo>
                  <a:lnTo>
                    <a:pt x="0" y="5130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" t="0" r="-7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253433"/>
            <a:ext cx="10335968" cy="702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7"/>
              </a:lnSpc>
            </a:pPr>
            <a:r>
              <a:rPr lang="en-US" sz="4124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Технологическая Платформа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991173"/>
            <a:ext cx="4984994" cy="42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На чем построен проект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2762841"/>
            <a:ext cx="7892358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Backend (C# / .NET Core)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87476" y="3273181"/>
            <a:ext cx="7901883" cy="3460547"/>
            <a:chOff x="0" y="0"/>
            <a:chExt cx="10535844" cy="46140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35793" cy="4614164"/>
            </a:xfrm>
            <a:custGeom>
              <a:avLst/>
              <a:gdLst/>
              <a:ahLst/>
              <a:cxnLst/>
              <a:rect r="r" b="b" t="t" l="l"/>
              <a:pathLst>
                <a:path h="4614164" w="10535793">
                  <a:moveTo>
                    <a:pt x="0" y="125476"/>
                  </a:moveTo>
                  <a:cubicBezTo>
                    <a:pt x="0" y="56134"/>
                    <a:pt x="56261" y="0"/>
                    <a:pt x="125603" y="0"/>
                  </a:cubicBezTo>
                  <a:lnTo>
                    <a:pt x="10410190" y="0"/>
                  </a:lnTo>
                  <a:lnTo>
                    <a:pt x="10410190" y="6350"/>
                  </a:lnTo>
                  <a:lnTo>
                    <a:pt x="10410190" y="0"/>
                  </a:lnTo>
                  <a:cubicBezTo>
                    <a:pt x="10479532" y="0"/>
                    <a:pt x="10535793" y="56134"/>
                    <a:pt x="10535793" y="125476"/>
                  </a:cubicBezTo>
                  <a:lnTo>
                    <a:pt x="10529443" y="125476"/>
                  </a:lnTo>
                  <a:lnTo>
                    <a:pt x="10535793" y="125476"/>
                  </a:lnTo>
                  <a:lnTo>
                    <a:pt x="10535793" y="4488688"/>
                  </a:lnTo>
                  <a:lnTo>
                    <a:pt x="10529443" y="4488688"/>
                  </a:lnTo>
                  <a:lnTo>
                    <a:pt x="10535793" y="4488688"/>
                  </a:lnTo>
                  <a:cubicBezTo>
                    <a:pt x="10535793" y="4558030"/>
                    <a:pt x="10479532" y="4614164"/>
                    <a:pt x="10410190" y="4614164"/>
                  </a:cubicBezTo>
                  <a:lnTo>
                    <a:pt x="10410190" y="4607814"/>
                  </a:lnTo>
                  <a:lnTo>
                    <a:pt x="10410190" y="4614164"/>
                  </a:lnTo>
                  <a:lnTo>
                    <a:pt x="125603" y="4614164"/>
                  </a:lnTo>
                  <a:lnTo>
                    <a:pt x="125603" y="4607814"/>
                  </a:lnTo>
                  <a:lnTo>
                    <a:pt x="125603" y="4614164"/>
                  </a:lnTo>
                  <a:cubicBezTo>
                    <a:pt x="56261" y="4614164"/>
                    <a:pt x="0" y="4558030"/>
                    <a:pt x="0" y="4488688"/>
                  </a:cubicBezTo>
                  <a:lnTo>
                    <a:pt x="0" y="125476"/>
                  </a:lnTo>
                  <a:lnTo>
                    <a:pt x="6350" y="125476"/>
                  </a:lnTo>
                  <a:lnTo>
                    <a:pt x="0" y="125476"/>
                  </a:lnTo>
                  <a:moveTo>
                    <a:pt x="12700" y="125476"/>
                  </a:moveTo>
                  <a:lnTo>
                    <a:pt x="12700" y="4488688"/>
                  </a:lnTo>
                  <a:lnTo>
                    <a:pt x="6350" y="4488688"/>
                  </a:lnTo>
                  <a:lnTo>
                    <a:pt x="12700" y="4488688"/>
                  </a:lnTo>
                  <a:cubicBezTo>
                    <a:pt x="12700" y="4550918"/>
                    <a:pt x="63246" y="4601464"/>
                    <a:pt x="125603" y="4601464"/>
                  </a:cubicBezTo>
                  <a:lnTo>
                    <a:pt x="10410190" y="4601464"/>
                  </a:lnTo>
                  <a:cubicBezTo>
                    <a:pt x="10472547" y="4601464"/>
                    <a:pt x="10523093" y="4551045"/>
                    <a:pt x="10523093" y="4488688"/>
                  </a:cubicBezTo>
                  <a:lnTo>
                    <a:pt x="10523093" y="125476"/>
                  </a:lnTo>
                  <a:cubicBezTo>
                    <a:pt x="10523093" y="63246"/>
                    <a:pt x="10472547" y="12700"/>
                    <a:pt x="10410190" y="12700"/>
                  </a:cubicBezTo>
                  <a:lnTo>
                    <a:pt x="125603" y="12700"/>
                  </a:lnTo>
                  <a:lnTo>
                    <a:pt x="125603" y="6350"/>
                  </a:lnTo>
                  <a:lnTo>
                    <a:pt x="125603" y="12700"/>
                  </a:lnTo>
                  <a:cubicBezTo>
                    <a:pt x="63246" y="12700"/>
                    <a:pt x="12700" y="63119"/>
                    <a:pt x="12700" y="125476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01763" y="3287468"/>
            <a:ext cx="7873308" cy="507797"/>
            <a:chOff x="0" y="0"/>
            <a:chExt cx="10497744" cy="67706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97693" cy="677037"/>
            </a:xfrm>
            <a:custGeom>
              <a:avLst/>
              <a:gdLst/>
              <a:ahLst/>
              <a:cxnLst/>
              <a:rect r="r" b="b" t="t" l="l"/>
              <a:pathLst>
                <a:path h="677037" w="10497693">
                  <a:moveTo>
                    <a:pt x="0" y="0"/>
                  </a:moveTo>
                  <a:lnTo>
                    <a:pt x="10497693" y="0"/>
                  </a:lnTo>
                  <a:lnTo>
                    <a:pt x="10497693" y="677037"/>
                  </a:lnTo>
                  <a:lnTo>
                    <a:pt x="0" y="677037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14590" y="3354438"/>
            <a:ext cx="2168281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Компонент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17439" y="3354438"/>
            <a:ext cx="2163518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Технология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415535" y="3354438"/>
            <a:ext cx="2247005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Назначение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01763" y="3795265"/>
            <a:ext cx="7873308" cy="805453"/>
            <a:chOff x="0" y="0"/>
            <a:chExt cx="10497744" cy="107393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497693" cy="1073912"/>
            </a:xfrm>
            <a:custGeom>
              <a:avLst/>
              <a:gdLst/>
              <a:ahLst/>
              <a:cxnLst/>
              <a:rect r="r" b="b" t="t" l="l"/>
              <a:pathLst>
                <a:path h="1073912" w="10497693">
                  <a:moveTo>
                    <a:pt x="0" y="0"/>
                  </a:moveTo>
                  <a:lnTo>
                    <a:pt x="10497693" y="0"/>
                  </a:lnTo>
                  <a:lnTo>
                    <a:pt x="10497693" y="1073912"/>
                  </a:lnTo>
                  <a:lnTo>
                    <a:pt x="0" y="10739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14590" y="3862235"/>
            <a:ext cx="2168281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Фреймворк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817439" y="3862235"/>
            <a:ext cx="2163518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ASP.NET Core MVC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415535" y="3862235"/>
            <a:ext cx="2247005" cy="633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Веб-сервер, маршрутизация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01763" y="4600727"/>
            <a:ext cx="7873308" cy="507797"/>
            <a:chOff x="0" y="0"/>
            <a:chExt cx="10497744" cy="67706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497693" cy="677037"/>
            </a:xfrm>
            <a:custGeom>
              <a:avLst/>
              <a:gdLst/>
              <a:ahLst/>
              <a:cxnLst/>
              <a:rect r="r" b="b" t="t" l="l"/>
              <a:pathLst>
                <a:path h="677037" w="10497693">
                  <a:moveTo>
                    <a:pt x="0" y="0"/>
                  </a:moveTo>
                  <a:lnTo>
                    <a:pt x="10497693" y="0"/>
                  </a:lnTo>
                  <a:lnTo>
                    <a:pt x="10497693" y="677037"/>
                  </a:lnTo>
                  <a:lnTo>
                    <a:pt x="0" y="677037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14590" y="4667698"/>
            <a:ext cx="2168281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Язык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817439" y="4667698"/>
            <a:ext cx="2163518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C#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415535" y="4667698"/>
            <a:ext cx="2247005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Логика приложения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01763" y="5108524"/>
            <a:ext cx="7873308" cy="805453"/>
            <a:chOff x="0" y="0"/>
            <a:chExt cx="10497744" cy="107393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497693" cy="1073912"/>
            </a:xfrm>
            <a:custGeom>
              <a:avLst/>
              <a:gdLst/>
              <a:ahLst/>
              <a:cxnLst/>
              <a:rect r="r" b="b" t="t" l="l"/>
              <a:pathLst>
                <a:path h="1073912" w="10497693">
                  <a:moveTo>
                    <a:pt x="0" y="0"/>
                  </a:moveTo>
                  <a:lnTo>
                    <a:pt x="10497693" y="0"/>
                  </a:lnTo>
                  <a:lnTo>
                    <a:pt x="10497693" y="1073912"/>
                  </a:lnTo>
                  <a:lnTo>
                    <a:pt x="0" y="10739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214590" y="5175494"/>
            <a:ext cx="2168281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HTTP-клиент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817439" y="5175494"/>
            <a:ext cx="2163518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HttpClient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415535" y="5175494"/>
            <a:ext cx="2247005" cy="633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Взаимодействие с YandexGPT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001763" y="5913987"/>
            <a:ext cx="7873308" cy="805453"/>
            <a:chOff x="0" y="0"/>
            <a:chExt cx="10497744" cy="107393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497693" cy="1073912"/>
            </a:xfrm>
            <a:custGeom>
              <a:avLst/>
              <a:gdLst/>
              <a:ahLst/>
              <a:cxnLst/>
              <a:rect r="r" b="b" t="t" l="l"/>
              <a:pathLst>
                <a:path h="1073912" w="10497693">
                  <a:moveTo>
                    <a:pt x="0" y="0"/>
                  </a:moveTo>
                  <a:lnTo>
                    <a:pt x="10497693" y="0"/>
                  </a:lnTo>
                  <a:lnTo>
                    <a:pt x="10497693" y="1073912"/>
                  </a:lnTo>
                  <a:lnTo>
                    <a:pt x="0" y="1073912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214590" y="5980957"/>
            <a:ext cx="2168281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Обработка текста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817439" y="5980957"/>
            <a:ext cx="2163518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Regex, LINQ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415535" y="5980957"/>
            <a:ext cx="2247005" cy="633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Разбивка, поиск фрагментов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412929" y="2762841"/>
            <a:ext cx="7892358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Frontend (HTML5 / CSS3 / JS)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408166" y="3273181"/>
            <a:ext cx="7901883" cy="3460547"/>
            <a:chOff x="0" y="0"/>
            <a:chExt cx="10535844" cy="461406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535793" cy="4614164"/>
            </a:xfrm>
            <a:custGeom>
              <a:avLst/>
              <a:gdLst/>
              <a:ahLst/>
              <a:cxnLst/>
              <a:rect r="r" b="b" t="t" l="l"/>
              <a:pathLst>
                <a:path h="4614164" w="10535793">
                  <a:moveTo>
                    <a:pt x="0" y="125476"/>
                  </a:moveTo>
                  <a:cubicBezTo>
                    <a:pt x="0" y="56134"/>
                    <a:pt x="56261" y="0"/>
                    <a:pt x="125603" y="0"/>
                  </a:cubicBezTo>
                  <a:lnTo>
                    <a:pt x="10410190" y="0"/>
                  </a:lnTo>
                  <a:lnTo>
                    <a:pt x="10410190" y="6350"/>
                  </a:lnTo>
                  <a:lnTo>
                    <a:pt x="10410190" y="0"/>
                  </a:lnTo>
                  <a:cubicBezTo>
                    <a:pt x="10479532" y="0"/>
                    <a:pt x="10535793" y="56134"/>
                    <a:pt x="10535793" y="125476"/>
                  </a:cubicBezTo>
                  <a:lnTo>
                    <a:pt x="10529443" y="125476"/>
                  </a:lnTo>
                  <a:lnTo>
                    <a:pt x="10535793" y="125476"/>
                  </a:lnTo>
                  <a:lnTo>
                    <a:pt x="10535793" y="4488688"/>
                  </a:lnTo>
                  <a:lnTo>
                    <a:pt x="10529443" y="4488688"/>
                  </a:lnTo>
                  <a:lnTo>
                    <a:pt x="10535793" y="4488688"/>
                  </a:lnTo>
                  <a:cubicBezTo>
                    <a:pt x="10535793" y="4558030"/>
                    <a:pt x="10479532" y="4614164"/>
                    <a:pt x="10410190" y="4614164"/>
                  </a:cubicBezTo>
                  <a:lnTo>
                    <a:pt x="10410190" y="4607814"/>
                  </a:lnTo>
                  <a:lnTo>
                    <a:pt x="10410190" y="4614164"/>
                  </a:lnTo>
                  <a:lnTo>
                    <a:pt x="125603" y="4614164"/>
                  </a:lnTo>
                  <a:lnTo>
                    <a:pt x="125603" y="4607814"/>
                  </a:lnTo>
                  <a:lnTo>
                    <a:pt x="125603" y="4614164"/>
                  </a:lnTo>
                  <a:cubicBezTo>
                    <a:pt x="56261" y="4614164"/>
                    <a:pt x="0" y="4558030"/>
                    <a:pt x="0" y="4488688"/>
                  </a:cubicBezTo>
                  <a:lnTo>
                    <a:pt x="0" y="125476"/>
                  </a:lnTo>
                  <a:lnTo>
                    <a:pt x="6350" y="125476"/>
                  </a:lnTo>
                  <a:lnTo>
                    <a:pt x="0" y="125476"/>
                  </a:lnTo>
                  <a:moveTo>
                    <a:pt x="12700" y="125476"/>
                  </a:moveTo>
                  <a:lnTo>
                    <a:pt x="12700" y="4488688"/>
                  </a:lnTo>
                  <a:lnTo>
                    <a:pt x="6350" y="4488688"/>
                  </a:lnTo>
                  <a:lnTo>
                    <a:pt x="12700" y="4488688"/>
                  </a:lnTo>
                  <a:cubicBezTo>
                    <a:pt x="12700" y="4550918"/>
                    <a:pt x="63246" y="4601464"/>
                    <a:pt x="125603" y="4601464"/>
                  </a:cubicBezTo>
                  <a:lnTo>
                    <a:pt x="10410190" y="4601464"/>
                  </a:lnTo>
                  <a:cubicBezTo>
                    <a:pt x="10472547" y="4601464"/>
                    <a:pt x="10523093" y="4551045"/>
                    <a:pt x="10523093" y="4488688"/>
                  </a:cubicBezTo>
                  <a:lnTo>
                    <a:pt x="10523093" y="125476"/>
                  </a:lnTo>
                  <a:cubicBezTo>
                    <a:pt x="10523093" y="63246"/>
                    <a:pt x="10472547" y="12700"/>
                    <a:pt x="10410190" y="12700"/>
                  </a:cubicBezTo>
                  <a:lnTo>
                    <a:pt x="125603" y="12700"/>
                  </a:lnTo>
                  <a:lnTo>
                    <a:pt x="125603" y="6350"/>
                  </a:lnTo>
                  <a:lnTo>
                    <a:pt x="125603" y="12700"/>
                  </a:lnTo>
                  <a:cubicBezTo>
                    <a:pt x="63246" y="12700"/>
                    <a:pt x="12700" y="63119"/>
                    <a:pt x="12700" y="125476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422454" y="3287468"/>
            <a:ext cx="7873308" cy="507797"/>
            <a:chOff x="0" y="0"/>
            <a:chExt cx="10497744" cy="67706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497693" cy="677037"/>
            </a:xfrm>
            <a:custGeom>
              <a:avLst/>
              <a:gdLst/>
              <a:ahLst/>
              <a:cxnLst/>
              <a:rect r="r" b="b" t="t" l="l"/>
              <a:pathLst>
                <a:path h="677037" w="10497693">
                  <a:moveTo>
                    <a:pt x="0" y="0"/>
                  </a:moveTo>
                  <a:lnTo>
                    <a:pt x="10497693" y="0"/>
                  </a:lnTo>
                  <a:lnTo>
                    <a:pt x="10497693" y="677037"/>
                  </a:lnTo>
                  <a:lnTo>
                    <a:pt x="0" y="677037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9635280" y="3354438"/>
            <a:ext cx="2168281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Компонент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238139" y="3354438"/>
            <a:ext cx="2163518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Технология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836226" y="3354438"/>
            <a:ext cx="2247005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Назначение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422454" y="3795265"/>
            <a:ext cx="7873308" cy="507797"/>
            <a:chOff x="0" y="0"/>
            <a:chExt cx="10497744" cy="67706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497693" cy="677037"/>
            </a:xfrm>
            <a:custGeom>
              <a:avLst/>
              <a:gdLst/>
              <a:ahLst/>
              <a:cxnLst/>
              <a:rect r="r" b="b" t="t" l="l"/>
              <a:pathLst>
                <a:path h="677037" w="10497693">
                  <a:moveTo>
                    <a:pt x="0" y="0"/>
                  </a:moveTo>
                  <a:lnTo>
                    <a:pt x="10497693" y="0"/>
                  </a:lnTo>
                  <a:lnTo>
                    <a:pt x="10497693" y="677037"/>
                  </a:lnTo>
                  <a:lnTo>
                    <a:pt x="0" y="6770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9635280" y="3862235"/>
            <a:ext cx="2168281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Верстка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238139" y="3862235"/>
            <a:ext cx="2163518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HTML5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836226" y="3862235"/>
            <a:ext cx="2247005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Структура страниц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9422454" y="4303071"/>
            <a:ext cx="7873308" cy="805453"/>
            <a:chOff x="0" y="0"/>
            <a:chExt cx="10497744" cy="107393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497693" cy="1073912"/>
            </a:xfrm>
            <a:custGeom>
              <a:avLst/>
              <a:gdLst/>
              <a:ahLst/>
              <a:cxnLst/>
              <a:rect r="r" b="b" t="t" l="l"/>
              <a:pathLst>
                <a:path h="1073912" w="10497693">
                  <a:moveTo>
                    <a:pt x="0" y="0"/>
                  </a:moveTo>
                  <a:lnTo>
                    <a:pt x="10497693" y="0"/>
                  </a:lnTo>
                  <a:lnTo>
                    <a:pt x="10497693" y="1073912"/>
                  </a:lnTo>
                  <a:lnTo>
                    <a:pt x="0" y="1073912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9635280" y="4370041"/>
            <a:ext cx="2168281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Стилизация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238139" y="4370041"/>
            <a:ext cx="2163518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CSS3 + Bootstrap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4836226" y="4370041"/>
            <a:ext cx="2247005" cy="633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Дизайн, адаптивность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9422454" y="5108524"/>
            <a:ext cx="7873308" cy="805453"/>
            <a:chOff x="0" y="0"/>
            <a:chExt cx="10497744" cy="1073937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497693" cy="1073912"/>
            </a:xfrm>
            <a:custGeom>
              <a:avLst/>
              <a:gdLst/>
              <a:ahLst/>
              <a:cxnLst/>
              <a:rect r="r" b="b" t="t" l="l"/>
              <a:pathLst>
                <a:path h="1073912" w="10497693">
                  <a:moveTo>
                    <a:pt x="0" y="0"/>
                  </a:moveTo>
                  <a:lnTo>
                    <a:pt x="10497693" y="0"/>
                  </a:lnTo>
                  <a:lnTo>
                    <a:pt x="10497693" y="1073912"/>
                  </a:lnTo>
                  <a:lnTo>
                    <a:pt x="0" y="10739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56" id="56"/>
          <p:cNvSpPr txBox="true"/>
          <p:nvPr/>
        </p:nvSpPr>
        <p:spPr>
          <a:xfrm rot="0">
            <a:off x="9635280" y="5175494"/>
            <a:ext cx="2168281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Логика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2238139" y="5175494"/>
            <a:ext cx="2163518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Vanilla JS (ES6)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4836226" y="5175494"/>
            <a:ext cx="2247005" cy="633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Взаимодействие с API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9422454" y="5913987"/>
            <a:ext cx="7873308" cy="805453"/>
            <a:chOff x="0" y="0"/>
            <a:chExt cx="10497744" cy="107393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497693" cy="1073912"/>
            </a:xfrm>
            <a:custGeom>
              <a:avLst/>
              <a:gdLst/>
              <a:ahLst/>
              <a:cxnLst/>
              <a:rect r="r" b="b" t="t" l="l"/>
              <a:pathLst>
                <a:path h="1073912" w="10497693">
                  <a:moveTo>
                    <a:pt x="0" y="0"/>
                  </a:moveTo>
                  <a:lnTo>
                    <a:pt x="10497693" y="0"/>
                  </a:lnTo>
                  <a:lnTo>
                    <a:pt x="10497693" y="1073912"/>
                  </a:lnTo>
                  <a:lnTo>
                    <a:pt x="0" y="1073912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9635280" y="5980957"/>
            <a:ext cx="2168281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Анимации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238139" y="5980957"/>
            <a:ext cx="2163518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CSS Animations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4836226" y="5980957"/>
            <a:ext cx="2247005" cy="633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Визуальная обратная связь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992238" y="7266984"/>
            <a:ext cx="7892358" cy="1549156"/>
            <a:chOff x="0" y="0"/>
            <a:chExt cx="10523144" cy="206554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523220" cy="2065528"/>
            </a:xfrm>
            <a:custGeom>
              <a:avLst/>
              <a:gdLst/>
              <a:ahLst/>
              <a:cxnLst/>
              <a:rect r="r" b="b" t="t" l="l"/>
              <a:pathLst>
                <a:path h="2065528" w="10523220">
                  <a:moveTo>
                    <a:pt x="0" y="119126"/>
                  </a:moveTo>
                  <a:cubicBezTo>
                    <a:pt x="0" y="53340"/>
                    <a:pt x="53340" y="0"/>
                    <a:pt x="119126" y="0"/>
                  </a:cubicBezTo>
                  <a:lnTo>
                    <a:pt x="10404094" y="0"/>
                  </a:lnTo>
                  <a:cubicBezTo>
                    <a:pt x="10469880" y="0"/>
                    <a:pt x="10523220" y="53340"/>
                    <a:pt x="10523220" y="119126"/>
                  </a:cubicBezTo>
                  <a:lnTo>
                    <a:pt x="10523220" y="1946402"/>
                  </a:lnTo>
                  <a:cubicBezTo>
                    <a:pt x="10523220" y="2012188"/>
                    <a:pt x="10469880" y="2065528"/>
                    <a:pt x="10404094" y="2065528"/>
                  </a:cubicBezTo>
                  <a:lnTo>
                    <a:pt x="119126" y="2065528"/>
                  </a:lnTo>
                  <a:cubicBezTo>
                    <a:pt x="53340" y="2065528"/>
                    <a:pt x="0" y="2012188"/>
                    <a:pt x="0" y="1946402"/>
                  </a:cubicBezTo>
                  <a:close/>
                </a:path>
              </a:pathLst>
            </a:custGeom>
            <a:solidFill>
              <a:srgbClr val="C1F1E5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204760" y="7504062"/>
            <a:ext cx="332184" cy="265805"/>
            <a:chOff x="0" y="0"/>
            <a:chExt cx="442912" cy="354406"/>
          </a:xfrm>
        </p:grpSpPr>
        <p:sp>
          <p:nvSpPr>
            <p:cNvPr name="Freeform 67" id="67" descr="preencoded.png"/>
            <p:cNvSpPr/>
            <p:nvPr/>
          </p:nvSpPr>
          <p:spPr>
            <a:xfrm flipH="false" flipV="false" rot="0">
              <a:off x="0" y="0"/>
              <a:ext cx="442976" cy="354457"/>
            </a:xfrm>
            <a:custGeom>
              <a:avLst/>
              <a:gdLst/>
              <a:ahLst/>
              <a:cxnLst/>
              <a:rect r="r" b="b" t="t" l="l"/>
              <a:pathLst>
                <a:path h="354457" w="442976">
                  <a:moveTo>
                    <a:pt x="0" y="0"/>
                  </a:moveTo>
                  <a:lnTo>
                    <a:pt x="442976" y="0"/>
                  </a:lnTo>
                  <a:lnTo>
                    <a:pt x="442976" y="354457"/>
                  </a:lnTo>
                  <a:lnTo>
                    <a:pt x="0" y="3544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" t="0" r="2" b="14"/>
              </a:stretch>
            </a:blipFill>
          </p:spPr>
        </p:sp>
      </p:grpSp>
      <p:sp>
        <p:nvSpPr>
          <p:cNvPr name="TextBox 68" id="68"/>
          <p:cNvSpPr txBox="true"/>
          <p:nvPr/>
        </p:nvSpPr>
        <p:spPr>
          <a:xfrm rot="0">
            <a:off x="1749476" y="7460456"/>
            <a:ext cx="2658066" cy="351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YandexGPT API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749476" y="7932982"/>
            <a:ext cx="6922589" cy="633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Модель YandexGPT-5 подходит для различных задач, в том числе для анализа текста.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9412929" y="7266984"/>
            <a:ext cx="7892358" cy="1251499"/>
            <a:chOff x="0" y="0"/>
            <a:chExt cx="10523144" cy="166866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523220" cy="1668653"/>
            </a:xfrm>
            <a:custGeom>
              <a:avLst/>
              <a:gdLst/>
              <a:ahLst/>
              <a:cxnLst/>
              <a:rect r="r" b="b" t="t" l="l"/>
              <a:pathLst>
                <a:path h="1668653" w="10523220">
                  <a:moveTo>
                    <a:pt x="0" y="119126"/>
                  </a:moveTo>
                  <a:cubicBezTo>
                    <a:pt x="0" y="53340"/>
                    <a:pt x="53340" y="0"/>
                    <a:pt x="119126" y="0"/>
                  </a:cubicBezTo>
                  <a:lnTo>
                    <a:pt x="10404094" y="0"/>
                  </a:lnTo>
                  <a:cubicBezTo>
                    <a:pt x="10469880" y="0"/>
                    <a:pt x="10523220" y="53340"/>
                    <a:pt x="10523220" y="119126"/>
                  </a:cubicBezTo>
                  <a:lnTo>
                    <a:pt x="10523220" y="1549527"/>
                  </a:lnTo>
                  <a:cubicBezTo>
                    <a:pt x="10523220" y="1615313"/>
                    <a:pt x="10469880" y="1668653"/>
                    <a:pt x="10404094" y="1668653"/>
                  </a:cubicBezTo>
                  <a:lnTo>
                    <a:pt x="119126" y="1668653"/>
                  </a:lnTo>
                  <a:cubicBezTo>
                    <a:pt x="53340" y="1668653"/>
                    <a:pt x="0" y="1615313"/>
                    <a:pt x="0" y="1549527"/>
                  </a:cubicBezTo>
                  <a:close/>
                </a:path>
              </a:pathLst>
            </a:custGeom>
            <a:solidFill>
              <a:srgbClr val="C1F1E5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9625460" y="7504062"/>
            <a:ext cx="332184" cy="265805"/>
            <a:chOff x="0" y="0"/>
            <a:chExt cx="442912" cy="354406"/>
          </a:xfrm>
        </p:grpSpPr>
        <p:sp>
          <p:nvSpPr>
            <p:cNvPr name="Freeform 73" id="73" descr="preencoded.png"/>
            <p:cNvSpPr/>
            <p:nvPr/>
          </p:nvSpPr>
          <p:spPr>
            <a:xfrm flipH="false" flipV="false" rot="0">
              <a:off x="0" y="0"/>
              <a:ext cx="442976" cy="354457"/>
            </a:xfrm>
            <a:custGeom>
              <a:avLst/>
              <a:gdLst/>
              <a:ahLst/>
              <a:cxnLst/>
              <a:rect r="r" b="b" t="t" l="l"/>
              <a:pathLst>
                <a:path h="354457" w="442976">
                  <a:moveTo>
                    <a:pt x="0" y="0"/>
                  </a:moveTo>
                  <a:lnTo>
                    <a:pt x="442976" y="0"/>
                  </a:lnTo>
                  <a:lnTo>
                    <a:pt x="442976" y="354457"/>
                  </a:lnTo>
                  <a:lnTo>
                    <a:pt x="0" y="3544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" t="0" r="2" b="14"/>
              </a:stretch>
            </a:blipFill>
          </p:spPr>
        </p:sp>
      </p:grpSp>
      <p:sp>
        <p:nvSpPr>
          <p:cNvPr name="TextBox 74" id="74"/>
          <p:cNvSpPr txBox="true"/>
          <p:nvPr/>
        </p:nvSpPr>
        <p:spPr>
          <a:xfrm rot="0">
            <a:off x="10170166" y="7460456"/>
            <a:ext cx="2722064" cy="351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Bootstrap Icons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0170166" y="7932982"/>
            <a:ext cx="6922589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Иконографика для визуальной навигации и интерфейса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905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355379"/>
            <a:ext cx="11658362" cy="665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7"/>
              </a:lnSpc>
            </a:pPr>
            <a:r>
              <a:rPr lang="en-US" sz="4124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Почему</a:t>
            </a:r>
            <a:r>
              <a:rPr lang="en-US" sz="4124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 мы выбрали именно эту платформу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083594"/>
            <a:ext cx="658141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Обоснование</a:t>
            </a:r>
            <a:r>
              <a:rPr lang="en-US" sz="3312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 стека технологий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7476" y="3067050"/>
            <a:ext cx="7901883" cy="2303259"/>
            <a:chOff x="0" y="0"/>
            <a:chExt cx="10535844" cy="30710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" y="6350"/>
              <a:ext cx="10523093" cy="3058414"/>
            </a:xfrm>
            <a:custGeom>
              <a:avLst/>
              <a:gdLst/>
              <a:ahLst/>
              <a:cxnLst/>
              <a:rect r="r" b="b" t="t" l="l"/>
              <a:pathLst>
                <a:path h="3058414" w="10523093">
                  <a:moveTo>
                    <a:pt x="0" y="119126"/>
                  </a:moveTo>
                  <a:cubicBezTo>
                    <a:pt x="0" y="53340"/>
                    <a:pt x="53467" y="0"/>
                    <a:pt x="119380" y="0"/>
                  </a:cubicBezTo>
                  <a:lnTo>
                    <a:pt x="10403713" y="0"/>
                  </a:lnTo>
                  <a:cubicBezTo>
                    <a:pt x="10469626" y="0"/>
                    <a:pt x="10523093" y="53340"/>
                    <a:pt x="10523093" y="119126"/>
                  </a:cubicBezTo>
                  <a:lnTo>
                    <a:pt x="10523093" y="2939288"/>
                  </a:lnTo>
                  <a:cubicBezTo>
                    <a:pt x="10523093" y="3005074"/>
                    <a:pt x="10469626" y="3058414"/>
                    <a:pt x="10403713" y="3058414"/>
                  </a:cubicBezTo>
                  <a:lnTo>
                    <a:pt x="119380" y="3058414"/>
                  </a:lnTo>
                  <a:cubicBezTo>
                    <a:pt x="53467" y="3058414"/>
                    <a:pt x="0" y="3005074"/>
                    <a:pt x="0" y="2939288"/>
                  </a:cubicBezTo>
                  <a:close/>
                </a:path>
              </a:pathLst>
            </a:custGeom>
            <a:solidFill>
              <a:srgbClr val="D6F5EE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35793" cy="3071114"/>
            </a:xfrm>
            <a:custGeom>
              <a:avLst/>
              <a:gdLst/>
              <a:ahLst/>
              <a:cxnLst/>
              <a:rect r="r" b="b" t="t" l="l"/>
              <a:pathLst>
                <a:path h="3071114" w="10535793">
                  <a:moveTo>
                    <a:pt x="0" y="125476"/>
                  </a:moveTo>
                  <a:cubicBezTo>
                    <a:pt x="0" y="56134"/>
                    <a:pt x="56388" y="0"/>
                    <a:pt x="125730" y="0"/>
                  </a:cubicBezTo>
                  <a:lnTo>
                    <a:pt x="10410063" y="0"/>
                  </a:lnTo>
                  <a:lnTo>
                    <a:pt x="10410063" y="6350"/>
                  </a:lnTo>
                  <a:lnTo>
                    <a:pt x="10410063" y="0"/>
                  </a:lnTo>
                  <a:cubicBezTo>
                    <a:pt x="10479532" y="0"/>
                    <a:pt x="10535793" y="56134"/>
                    <a:pt x="10535793" y="125476"/>
                  </a:cubicBezTo>
                  <a:lnTo>
                    <a:pt x="10529443" y="125476"/>
                  </a:lnTo>
                  <a:lnTo>
                    <a:pt x="10535793" y="125476"/>
                  </a:lnTo>
                  <a:lnTo>
                    <a:pt x="10535793" y="2945638"/>
                  </a:lnTo>
                  <a:lnTo>
                    <a:pt x="10529443" y="2945638"/>
                  </a:lnTo>
                  <a:lnTo>
                    <a:pt x="10535793" y="2945638"/>
                  </a:lnTo>
                  <a:cubicBezTo>
                    <a:pt x="10535793" y="3014980"/>
                    <a:pt x="10479405" y="3071114"/>
                    <a:pt x="10410063" y="3071114"/>
                  </a:cubicBezTo>
                  <a:lnTo>
                    <a:pt x="10410063" y="3064764"/>
                  </a:lnTo>
                  <a:lnTo>
                    <a:pt x="10410063" y="3071114"/>
                  </a:lnTo>
                  <a:lnTo>
                    <a:pt x="125730" y="3071114"/>
                  </a:lnTo>
                  <a:lnTo>
                    <a:pt x="125730" y="3064764"/>
                  </a:lnTo>
                  <a:lnTo>
                    <a:pt x="125730" y="3071114"/>
                  </a:lnTo>
                  <a:cubicBezTo>
                    <a:pt x="56261" y="3071114"/>
                    <a:pt x="0" y="3014980"/>
                    <a:pt x="0" y="2945638"/>
                  </a:cubicBezTo>
                  <a:lnTo>
                    <a:pt x="0" y="125476"/>
                  </a:lnTo>
                  <a:lnTo>
                    <a:pt x="6350" y="125476"/>
                  </a:lnTo>
                  <a:lnTo>
                    <a:pt x="0" y="125476"/>
                  </a:lnTo>
                  <a:moveTo>
                    <a:pt x="12700" y="125476"/>
                  </a:moveTo>
                  <a:lnTo>
                    <a:pt x="12700" y="2945638"/>
                  </a:lnTo>
                  <a:lnTo>
                    <a:pt x="6350" y="2945638"/>
                  </a:lnTo>
                  <a:lnTo>
                    <a:pt x="12700" y="2945638"/>
                  </a:lnTo>
                  <a:cubicBezTo>
                    <a:pt x="12700" y="3007868"/>
                    <a:pt x="63373" y="3058414"/>
                    <a:pt x="125730" y="3058414"/>
                  </a:cubicBezTo>
                  <a:lnTo>
                    <a:pt x="10410063" y="3058414"/>
                  </a:lnTo>
                  <a:cubicBezTo>
                    <a:pt x="10472547" y="3058414"/>
                    <a:pt x="10523093" y="3007868"/>
                    <a:pt x="10523093" y="2945638"/>
                  </a:cubicBezTo>
                  <a:lnTo>
                    <a:pt x="10523093" y="125476"/>
                  </a:lnTo>
                  <a:cubicBezTo>
                    <a:pt x="10523093" y="63246"/>
                    <a:pt x="10472420" y="12700"/>
                    <a:pt x="10410063" y="12700"/>
                  </a:cubicBezTo>
                  <a:lnTo>
                    <a:pt x="125730" y="12700"/>
                  </a:lnTo>
                  <a:lnTo>
                    <a:pt x="125730" y="6350"/>
                  </a:lnTo>
                  <a:lnTo>
                    <a:pt x="125730" y="12700"/>
                  </a:lnTo>
                  <a:cubicBezTo>
                    <a:pt x="63373" y="12700"/>
                    <a:pt x="12700" y="63246"/>
                    <a:pt x="12700" y="125476"/>
                  </a:cubicBezTo>
                  <a:close/>
                </a:path>
              </a:pathLst>
            </a:custGeom>
            <a:solidFill>
              <a:srgbClr val="BCDBD4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14285" y="3274809"/>
            <a:ext cx="2658066" cy="351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ASP.NET Core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4285" y="3747345"/>
            <a:ext cx="7448255" cy="1135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45070" indent="-122535" lvl="1">
              <a:lnSpc>
                <a:spcPts val="2312"/>
              </a:lnSpc>
              <a:buFont typeface="Arial"/>
              <a:buChar char="•"/>
            </a:pPr>
            <a:r>
              <a:rPr lang="en-US" sz="16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Кроссплатформенность</a:t>
            </a:r>
            <a:r>
              <a:rPr lang="en-US" sz="16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— работает на Windows, Linux, macOS Высокая производительность — обрабатывает большие тексты без задержек Простая интеграция с внешними API (YandexGPT) Безопасность — встроенные механизмы защиты запросов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408166" y="3067050"/>
            <a:ext cx="7901883" cy="2303259"/>
            <a:chOff x="0" y="0"/>
            <a:chExt cx="10535844" cy="307101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6350" y="6350"/>
              <a:ext cx="10523093" cy="3058414"/>
            </a:xfrm>
            <a:custGeom>
              <a:avLst/>
              <a:gdLst/>
              <a:ahLst/>
              <a:cxnLst/>
              <a:rect r="r" b="b" t="t" l="l"/>
              <a:pathLst>
                <a:path h="3058414" w="10523093">
                  <a:moveTo>
                    <a:pt x="0" y="119126"/>
                  </a:moveTo>
                  <a:cubicBezTo>
                    <a:pt x="0" y="53340"/>
                    <a:pt x="53467" y="0"/>
                    <a:pt x="119380" y="0"/>
                  </a:cubicBezTo>
                  <a:lnTo>
                    <a:pt x="10403713" y="0"/>
                  </a:lnTo>
                  <a:cubicBezTo>
                    <a:pt x="10469626" y="0"/>
                    <a:pt x="10523093" y="53340"/>
                    <a:pt x="10523093" y="119126"/>
                  </a:cubicBezTo>
                  <a:lnTo>
                    <a:pt x="10523093" y="2939288"/>
                  </a:lnTo>
                  <a:cubicBezTo>
                    <a:pt x="10523093" y="3005074"/>
                    <a:pt x="10469626" y="3058414"/>
                    <a:pt x="10403713" y="3058414"/>
                  </a:cubicBezTo>
                  <a:lnTo>
                    <a:pt x="119380" y="3058414"/>
                  </a:lnTo>
                  <a:cubicBezTo>
                    <a:pt x="53467" y="3058414"/>
                    <a:pt x="0" y="3005074"/>
                    <a:pt x="0" y="2939288"/>
                  </a:cubicBezTo>
                  <a:close/>
                </a:path>
              </a:pathLst>
            </a:custGeom>
            <a:solidFill>
              <a:srgbClr val="D6F5E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535793" cy="3071114"/>
            </a:xfrm>
            <a:custGeom>
              <a:avLst/>
              <a:gdLst/>
              <a:ahLst/>
              <a:cxnLst/>
              <a:rect r="r" b="b" t="t" l="l"/>
              <a:pathLst>
                <a:path h="3071114" w="10535793">
                  <a:moveTo>
                    <a:pt x="0" y="125476"/>
                  </a:moveTo>
                  <a:cubicBezTo>
                    <a:pt x="0" y="56134"/>
                    <a:pt x="56388" y="0"/>
                    <a:pt x="125730" y="0"/>
                  </a:cubicBezTo>
                  <a:lnTo>
                    <a:pt x="10410063" y="0"/>
                  </a:lnTo>
                  <a:lnTo>
                    <a:pt x="10410063" y="6350"/>
                  </a:lnTo>
                  <a:lnTo>
                    <a:pt x="10410063" y="0"/>
                  </a:lnTo>
                  <a:cubicBezTo>
                    <a:pt x="10479532" y="0"/>
                    <a:pt x="10535793" y="56134"/>
                    <a:pt x="10535793" y="125476"/>
                  </a:cubicBezTo>
                  <a:lnTo>
                    <a:pt x="10529443" y="125476"/>
                  </a:lnTo>
                  <a:lnTo>
                    <a:pt x="10535793" y="125476"/>
                  </a:lnTo>
                  <a:lnTo>
                    <a:pt x="10535793" y="2945638"/>
                  </a:lnTo>
                  <a:lnTo>
                    <a:pt x="10529443" y="2945638"/>
                  </a:lnTo>
                  <a:lnTo>
                    <a:pt x="10535793" y="2945638"/>
                  </a:lnTo>
                  <a:cubicBezTo>
                    <a:pt x="10535793" y="3014980"/>
                    <a:pt x="10479405" y="3071114"/>
                    <a:pt x="10410063" y="3071114"/>
                  </a:cubicBezTo>
                  <a:lnTo>
                    <a:pt x="10410063" y="3064764"/>
                  </a:lnTo>
                  <a:lnTo>
                    <a:pt x="10410063" y="3071114"/>
                  </a:lnTo>
                  <a:lnTo>
                    <a:pt x="125730" y="3071114"/>
                  </a:lnTo>
                  <a:lnTo>
                    <a:pt x="125730" y="3064764"/>
                  </a:lnTo>
                  <a:lnTo>
                    <a:pt x="125730" y="3071114"/>
                  </a:lnTo>
                  <a:cubicBezTo>
                    <a:pt x="56261" y="3071114"/>
                    <a:pt x="0" y="3014980"/>
                    <a:pt x="0" y="2945638"/>
                  </a:cubicBezTo>
                  <a:lnTo>
                    <a:pt x="0" y="125476"/>
                  </a:lnTo>
                  <a:lnTo>
                    <a:pt x="6350" y="125476"/>
                  </a:lnTo>
                  <a:lnTo>
                    <a:pt x="0" y="125476"/>
                  </a:lnTo>
                  <a:moveTo>
                    <a:pt x="12700" y="125476"/>
                  </a:moveTo>
                  <a:lnTo>
                    <a:pt x="12700" y="2945638"/>
                  </a:lnTo>
                  <a:lnTo>
                    <a:pt x="6350" y="2945638"/>
                  </a:lnTo>
                  <a:lnTo>
                    <a:pt x="12700" y="2945638"/>
                  </a:lnTo>
                  <a:cubicBezTo>
                    <a:pt x="12700" y="3007868"/>
                    <a:pt x="63373" y="3058414"/>
                    <a:pt x="125730" y="3058414"/>
                  </a:cubicBezTo>
                  <a:lnTo>
                    <a:pt x="10410063" y="3058414"/>
                  </a:lnTo>
                  <a:cubicBezTo>
                    <a:pt x="10472547" y="3058414"/>
                    <a:pt x="10523093" y="3007868"/>
                    <a:pt x="10523093" y="2945638"/>
                  </a:cubicBezTo>
                  <a:lnTo>
                    <a:pt x="10523093" y="125476"/>
                  </a:lnTo>
                  <a:cubicBezTo>
                    <a:pt x="10523093" y="63246"/>
                    <a:pt x="10472420" y="12700"/>
                    <a:pt x="10410063" y="12700"/>
                  </a:cubicBezTo>
                  <a:lnTo>
                    <a:pt x="125730" y="12700"/>
                  </a:lnTo>
                  <a:lnTo>
                    <a:pt x="125730" y="6350"/>
                  </a:lnTo>
                  <a:lnTo>
                    <a:pt x="125730" y="12700"/>
                  </a:lnTo>
                  <a:cubicBezTo>
                    <a:pt x="63373" y="12700"/>
                    <a:pt x="12700" y="63246"/>
                    <a:pt x="12700" y="125476"/>
                  </a:cubicBezTo>
                  <a:close/>
                </a:path>
              </a:pathLst>
            </a:custGeom>
            <a:solidFill>
              <a:srgbClr val="BCDBD4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634985" y="3274809"/>
            <a:ext cx="2658066" cy="351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C# Backend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34985" y="3747345"/>
            <a:ext cx="7448255" cy="1420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45070" indent="-122535" lvl="1">
              <a:lnSpc>
                <a:spcPts val="2312"/>
              </a:lnSpc>
              <a:buFont typeface="Arial"/>
              <a:buChar char="•"/>
            </a:pPr>
            <a:r>
              <a:rPr lang="en-US" sz="16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Мощная</a:t>
            </a:r>
            <a:r>
              <a:rPr lang="en-US" sz="16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стандартная библиотека для работы с текстом (кодировка, регулярные выражения, LINQ) Строгая типизация — меньше ошибок во время выполнения Асинхронное программирование (async/await) для неблокирующих операций Поддержка сложных структур данных (словарь, список)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87476" y="5719467"/>
            <a:ext cx="16313048" cy="2239413"/>
            <a:chOff x="0" y="0"/>
            <a:chExt cx="21750731" cy="29858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6350" y="6350"/>
              <a:ext cx="21738082" cy="2973197"/>
            </a:xfrm>
            <a:custGeom>
              <a:avLst/>
              <a:gdLst/>
              <a:ahLst/>
              <a:cxnLst/>
              <a:rect r="r" b="b" t="t" l="l"/>
              <a:pathLst>
                <a:path h="2973197" w="21738082">
                  <a:moveTo>
                    <a:pt x="0" y="119126"/>
                  </a:moveTo>
                  <a:cubicBezTo>
                    <a:pt x="0" y="53340"/>
                    <a:pt x="53467" y="0"/>
                    <a:pt x="119507" y="0"/>
                  </a:cubicBezTo>
                  <a:lnTo>
                    <a:pt x="21618575" y="0"/>
                  </a:lnTo>
                  <a:cubicBezTo>
                    <a:pt x="21684614" y="0"/>
                    <a:pt x="21738082" y="53340"/>
                    <a:pt x="21738082" y="119126"/>
                  </a:cubicBezTo>
                  <a:lnTo>
                    <a:pt x="21738082" y="2854071"/>
                  </a:lnTo>
                  <a:cubicBezTo>
                    <a:pt x="21738082" y="2919857"/>
                    <a:pt x="21684614" y="2973197"/>
                    <a:pt x="21618575" y="2973197"/>
                  </a:cubicBezTo>
                  <a:lnTo>
                    <a:pt x="119507" y="2973197"/>
                  </a:lnTo>
                  <a:cubicBezTo>
                    <a:pt x="53467" y="2973197"/>
                    <a:pt x="0" y="2919857"/>
                    <a:pt x="0" y="2854071"/>
                  </a:cubicBezTo>
                  <a:close/>
                </a:path>
              </a:pathLst>
            </a:custGeom>
            <a:solidFill>
              <a:srgbClr val="D6F5EE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750782" cy="2985897"/>
            </a:xfrm>
            <a:custGeom>
              <a:avLst/>
              <a:gdLst/>
              <a:ahLst/>
              <a:cxnLst/>
              <a:rect r="r" b="b" t="t" l="l"/>
              <a:pathLst>
                <a:path h="2985897" w="21750782">
                  <a:moveTo>
                    <a:pt x="0" y="125476"/>
                  </a:moveTo>
                  <a:cubicBezTo>
                    <a:pt x="0" y="56134"/>
                    <a:pt x="56388" y="0"/>
                    <a:pt x="125857" y="0"/>
                  </a:cubicBezTo>
                  <a:lnTo>
                    <a:pt x="21624925" y="0"/>
                  </a:lnTo>
                  <a:lnTo>
                    <a:pt x="21624925" y="6350"/>
                  </a:lnTo>
                  <a:lnTo>
                    <a:pt x="21624925" y="0"/>
                  </a:lnTo>
                  <a:cubicBezTo>
                    <a:pt x="21694394" y="0"/>
                    <a:pt x="21750782" y="56134"/>
                    <a:pt x="21750782" y="125476"/>
                  </a:cubicBezTo>
                  <a:lnTo>
                    <a:pt x="21744432" y="125476"/>
                  </a:lnTo>
                  <a:lnTo>
                    <a:pt x="21750782" y="125476"/>
                  </a:lnTo>
                  <a:lnTo>
                    <a:pt x="21750782" y="2860421"/>
                  </a:lnTo>
                  <a:lnTo>
                    <a:pt x="21744432" y="2860421"/>
                  </a:lnTo>
                  <a:lnTo>
                    <a:pt x="21750782" y="2860421"/>
                  </a:lnTo>
                  <a:cubicBezTo>
                    <a:pt x="21750782" y="2929763"/>
                    <a:pt x="21694394" y="2985897"/>
                    <a:pt x="21624925" y="2985897"/>
                  </a:cubicBezTo>
                  <a:lnTo>
                    <a:pt x="21624925" y="2979547"/>
                  </a:lnTo>
                  <a:lnTo>
                    <a:pt x="21624925" y="2985897"/>
                  </a:lnTo>
                  <a:lnTo>
                    <a:pt x="125857" y="2985897"/>
                  </a:lnTo>
                  <a:lnTo>
                    <a:pt x="125857" y="2979547"/>
                  </a:lnTo>
                  <a:lnTo>
                    <a:pt x="125857" y="2985897"/>
                  </a:lnTo>
                  <a:cubicBezTo>
                    <a:pt x="56388" y="2985897"/>
                    <a:pt x="0" y="2929763"/>
                    <a:pt x="0" y="2860421"/>
                  </a:cubicBezTo>
                  <a:lnTo>
                    <a:pt x="0" y="125476"/>
                  </a:lnTo>
                  <a:lnTo>
                    <a:pt x="6350" y="125476"/>
                  </a:lnTo>
                  <a:lnTo>
                    <a:pt x="0" y="125476"/>
                  </a:lnTo>
                  <a:moveTo>
                    <a:pt x="12700" y="125476"/>
                  </a:moveTo>
                  <a:lnTo>
                    <a:pt x="12700" y="2860421"/>
                  </a:lnTo>
                  <a:lnTo>
                    <a:pt x="6350" y="2860421"/>
                  </a:lnTo>
                  <a:lnTo>
                    <a:pt x="12700" y="2860421"/>
                  </a:lnTo>
                  <a:cubicBezTo>
                    <a:pt x="12700" y="2922651"/>
                    <a:pt x="63373" y="2973197"/>
                    <a:pt x="125857" y="2973197"/>
                  </a:cubicBezTo>
                  <a:lnTo>
                    <a:pt x="21624925" y="2973197"/>
                  </a:lnTo>
                  <a:cubicBezTo>
                    <a:pt x="21687410" y="2973197"/>
                    <a:pt x="21738082" y="2922651"/>
                    <a:pt x="21738082" y="2860421"/>
                  </a:cubicBezTo>
                  <a:lnTo>
                    <a:pt x="21738082" y="125476"/>
                  </a:lnTo>
                  <a:cubicBezTo>
                    <a:pt x="21738082" y="63246"/>
                    <a:pt x="21687410" y="12700"/>
                    <a:pt x="21624925" y="12700"/>
                  </a:cubicBezTo>
                  <a:lnTo>
                    <a:pt x="125857" y="12700"/>
                  </a:lnTo>
                  <a:lnTo>
                    <a:pt x="125857" y="6350"/>
                  </a:lnTo>
                  <a:lnTo>
                    <a:pt x="125857" y="12700"/>
                  </a:lnTo>
                  <a:cubicBezTo>
                    <a:pt x="63373" y="12700"/>
                    <a:pt x="12700" y="63246"/>
                    <a:pt x="12700" y="125476"/>
                  </a:cubicBezTo>
                  <a:close/>
                </a:path>
              </a:pathLst>
            </a:custGeom>
            <a:solidFill>
              <a:srgbClr val="BCDBD4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14285" y="5927227"/>
            <a:ext cx="3814048" cy="331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Vanilla JavaScript  , Html,  Css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14285" y="6335916"/>
            <a:ext cx="15859420" cy="1135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45070" indent="-122535" lvl="1">
              <a:lnSpc>
                <a:spcPts val="2312"/>
              </a:lnSpc>
              <a:buFont typeface="Arial"/>
              <a:buChar char="•"/>
            </a:pPr>
            <a:r>
              <a:rPr lang="en-US" sz="16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Отсутствие</a:t>
            </a:r>
            <a:r>
              <a:rPr lang="en-US" sz="16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зависимостей — легкое приложение</a:t>
            </a:r>
          </a:p>
          <a:p>
            <a:pPr algn="l" marL="245070" indent="-122535" lvl="1">
              <a:lnSpc>
                <a:spcPts val="2312"/>
              </a:lnSpc>
              <a:buFont typeface="Arial"/>
              <a:buChar char="•"/>
            </a:pPr>
            <a:r>
              <a:rPr lang="en-US" sz="16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Быстрая загрузка — минимум внешних библиотек</a:t>
            </a:r>
          </a:p>
          <a:p>
            <a:pPr algn="l" marL="245070" indent="-122535" lvl="1">
              <a:lnSpc>
                <a:spcPts val="2312"/>
              </a:lnSpc>
              <a:buFont typeface="Arial"/>
              <a:buChar char="•"/>
            </a:pPr>
            <a:r>
              <a:rPr lang="en-US" sz="16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Адаптивность — чистый CSS обеспечивает отличную поддержку мобильных устройств</a:t>
            </a:r>
          </a:p>
          <a:p>
            <a:pPr algn="l" marL="245070" indent="-122535" lvl="1">
              <a:lnSpc>
                <a:spcPts val="2312"/>
              </a:lnSpc>
              <a:buFont typeface="Arial"/>
              <a:buChar char="•"/>
            </a:pPr>
            <a:r>
              <a:rPr lang="en-US" sz="16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Простота поддержки — код понятен любому разработчику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04760" y="8441684"/>
            <a:ext cx="265805" cy="212522"/>
            <a:chOff x="0" y="0"/>
            <a:chExt cx="354406" cy="283362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354457" cy="283337"/>
            </a:xfrm>
            <a:custGeom>
              <a:avLst/>
              <a:gdLst/>
              <a:ahLst/>
              <a:cxnLst/>
              <a:rect r="r" b="b" t="t" l="l"/>
              <a:pathLst>
                <a:path h="283337" w="354457">
                  <a:moveTo>
                    <a:pt x="0" y="0"/>
                  </a:moveTo>
                  <a:lnTo>
                    <a:pt x="354457" y="0"/>
                  </a:lnTo>
                  <a:lnTo>
                    <a:pt x="354457" y="283337"/>
                  </a:lnTo>
                  <a:lnTo>
                    <a:pt x="0" y="283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81" t="0" r="-867" b="-8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840877"/>
            <a:ext cx="8367265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Функции Проекта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859309"/>
            <a:ext cx="12255551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Основной функционал детально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3276752"/>
            <a:ext cx="668967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Загрузка и обработка текста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3955552"/>
            <a:ext cx="7805890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Ручной ввод в текстовое поле, загрузка .txt файлов с автоопределением кодировки (UTF-8, Windows-1251), готовая тестовая книга для демонстрации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5647582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Чат-ассистент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6326391"/>
            <a:ext cx="7805890" cy="235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Режим "Вопрос" для поиска ответов по тексту, режим "Поиск" для извлечения фрагментов по запросу, умная индексация через TF-IDF-подобную оценку релевантности чанков, поддержка интернета для расширения ответов из внешних источников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99397" y="3276752"/>
            <a:ext cx="418430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Анализ текста (AI)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99397" y="3955552"/>
            <a:ext cx="7805890" cy="235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Автоматическая разбивка текста на чанки по 7000 символов, поиск оптимальных границ разбивки по точкам, последовательная обработка каждого чанка YandexGPT, объединение кратких содержаний в итоговую структуру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99397" y="6554838"/>
            <a:ext cx="4302328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UI/UX особенности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99397" y="7233647"/>
            <a:ext cx="7805890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Адаптивный дизайн для десктопа, планшетов и мобильных устройств, свайпы для навигации на мобильных, полноэкранный режим чата, индикаторы загрузки и прогресса, анимация "печатания" ответа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373086"/>
            <a:ext cx="10614574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Демонстрация Работы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391518"/>
            <a:ext cx="10638234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Как это выглядит в действии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3882476"/>
            <a:ext cx="7805890" cy="3715788"/>
            <a:chOff x="0" y="0"/>
            <a:chExt cx="10407853" cy="4954384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0407904" cy="4954397"/>
            </a:xfrm>
            <a:custGeom>
              <a:avLst/>
              <a:gdLst/>
              <a:ahLst/>
              <a:cxnLst/>
              <a:rect r="r" b="b" t="t" l="l"/>
              <a:pathLst>
                <a:path h="4954397" w="10407904">
                  <a:moveTo>
                    <a:pt x="0" y="0"/>
                  </a:moveTo>
                  <a:lnTo>
                    <a:pt x="10407904" y="0"/>
                  </a:lnTo>
                  <a:lnTo>
                    <a:pt x="10407904" y="4954397"/>
                  </a:lnTo>
                  <a:lnTo>
                    <a:pt x="0" y="4954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3" t="0" r="-43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7831484"/>
            <a:ext cx="7805890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Загрузка текста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499397" y="3882476"/>
            <a:ext cx="7805890" cy="3946474"/>
            <a:chOff x="0" y="0"/>
            <a:chExt cx="10407853" cy="5261966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0407904" cy="5261991"/>
            </a:xfrm>
            <a:custGeom>
              <a:avLst/>
              <a:gdLst/>
              <a:ahLst/>
              <a:cxnLst/>
              <a:rect r="r" b="b" t="t" l="l"/>
              <a:pathLst>
                <a:path h="5261991" w="10407904">
                  <a:moveTo>
                    <a:pt x="0" y="0"/>
                  </a:moveTo>
                  <a:lnTo>
                    <a:pt x="10407904" y="0"/>
                  </a:lnTo>
                  <a:lnTo>
                    <a:pt x="10407904" y="5261991"/>
                  </a:lnTo>
                  <a:lnTo>
                    <a:pt x="0" y="5261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9" t="0" r="-68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499397" y="8062170"/>
            <a:ext cx="7805890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Вывод краткого содержания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2913307"/>
            <a:ext cx="7805890" cy="3751507"/>
            <a:chOff x="0" y="0"/>
            <a:chExt cx="10407853" cy="5002009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0407904" cy="5002022"/>
            </a:xfrm>
            <a:custGeom>
              <a:avLst/>
              <a:gdLst/>
              <a:ahLst/>
              <a:cxnLst/>
              <a:rect r="r" b="b" t="t" l="l"/>
              <a:pathLst>
                <a:path h="5002022" w="10407904">
                  <a:moveTo>
                    <a:pt x="0" y="0"/>
                  </a:moveTo>
                  <a:lnTo>
                    <a:pt x="10407904" y="0"/>
                  </a:lnTo>
                  <a:lnTo>
                    <a:pt x="10407904" y="5002022"/>
                  </a:lnTo>
                  <a:lnTo>
                    <a:pt x="0" y="50020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" t="0" r="-1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6898034"/>
            <a:ext cx="7805890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Ответ на вопрос, который есть в тексте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499397" y="2913307"/>
            <a:ext cx="7805890" cy="3712073"/>
            <a:chOff x="0" y="0"/>
            <a:chExt cx="10407853" cy="4949431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0407904" cy="4949444"/>
            </a:xfrm>
            <a:custGeom>
              <a:avLst/>
              <a:gdLst/>
              <a:ahLst/>
              <a:cxnLst/>
              <a:rect r="r" b="b" t="t" l="l"/>
              <a:pathLst>
                <a:path h="4949444" w="10407904">
                  <a:moveTo>
                    <a:pt x="0" y="0"/>
                  </a:moveTo>
                  <a:lnTo>
                    <a:pt x="10407904" y="0"/>
                  </a:lnTo>
                  <a:lnTo>
                    <a:pt x="10407904" y="4949444"/>
                  </a:lnTo>
                  <a:lnTo>
                    <a:pt x="0" y="4949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" r="0" b="-6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499397" y="6858591"/>
            <a:ext cx="7805890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Поиск фрагмента текста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984494"/>
            <a:ext cx="15682912" cy="7545438"/>
            <a:chOff x="0" y="0"/>
            <a:chExt cx="20910550" cy="10060584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0910550" cy="10060559"/>
            </a:xfrm>
            <a:custGeom>
              <a:avLst/>
              <a:gdLst/>
              <a:ahLst/>
              <a:cxnLst/>
              <a:rect r="r" b="b" t="t" l="l"/>
              <a:pathLst>
                <a:path h="10060559" w="20910550">
                  <a:moveTo>
                    <a:pt x="0" y="0"/>
                  </a:moveTo>
                  <a:lnTo>
                    <a:pt x="20910550" y="0"/>
                  </a:lnTo>
                  <a:lnTo>
                    <a:pt x="20910550" y="10060559"/>
                  </a:lnTo>
                  <a:lnTo>
                    <a:pt x="0" y="1006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6" t="0" r="-26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8763152"/>
            <a:ext cx="163035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Честный ответ, что такого нет в тексте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800252"/>
            <a:ext cx="6947297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Достигнутые Цели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581445"/>
            <a:ext cx="7602141" cy="605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3562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Что удалось реализовать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7476" y="2453878"/>
            <a:ext cx="16313048" cy="4533900"/>
            <a:chOff x="0" y="0"/>
            <a:chExt cx="21750731" cy="6045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50782" cy="6045200"/>
            </a:xfrm>
            <a:custGeom>
              <a:avLst/>
              <a:gdLst/>
              <a:ahLst/>
              <a:cxnLst/>
              <a:rect r="r" b="b" t="t" l="l"/>
              <a:pathLst>
                <a:path h="6045200" w="21750782">
                  <a:moveTo>
                    <a:pt x="0" y="133350"/>
                  </a:moveTo>
                  <a:cubicBezTo>
                    <a:pt x="0" y="59690"/>
                    <a:pt x="59817" y="0"/>
                    <a:pt x="133604" y="0"/>
                  </a:cubicBezTo>
                  <a:lnTo>
                    <a:pt x="21617178" y="0"/>
                  </a:lnTo>
                  <a:lnTo>
                    <a:pt x="21617178" y="6350"/>
                  </a:lnTo>
                  <a:lnTo>
                    <a:pt x="21617178" y="0"/>
                  </a:lnTo>
                  <a:cubicBezTo>
                    <a:pt x="21690966" y="0"/>
                    <a:pt x="21750782" y="59690"/>
                    <a:pt x="21750782" y="133350"/>
                  </a:cubicBezTo>
                  <a:lnTo>
                    <a:pt x="21744432" y="133350"/>
                  </a:lnTo>
                  <a:lnTo>
                    <a:pt x="21750782" y="133350"/>
                  </a:lnTo>
                  <a:lnTo>
                    <a:pt x="21750782" y="5911850"/>
                  </a:lnTo>
                  <a:lnTo>
                    <a:pt x="21744432" y="5911850"/>
                  </a:lnTo>
                  <a:lnTo>
                    <a:pt x="21750782" y="5911850"/>
                  </a:lnTo>
                  <a:cubicBezTo>
                    <a:pt x="21750782" y="5985510"/>
                    <a:pt x="21690966" y="6045200"/>
                    <a:pt x="21617178" y="6045200"/>
                  </a:cubicBezTo>
                  <a:lnTo>
                    <a:pt x="21617178" y="6038850"/>
                  </a:lnTo>
                  <a:lnTo>
                    <a:pt x="21617178" y="6045200"/>
                  </a:lnTo>
                  <a:lnTo>
                    <a:pt x="133604" y="6045200"/>
                  </a:lnTo>
                  <a:lnTo>
                    <a:pt x="133604" y="6038850"/>
                  </a:lnTo>
                  <a:lnTo>
                    <a:pt x="133604" y="6045200"/>
                  </a:lnTo>
                  <a:cubicBezTo>
                    <a:pt x="59817" y="6045200"/>
                    <a:pt x="0" y="5985510"/>
                    <a:pt x="0" y="5911850"/>
                  </a:cubicBezTo>
                  <a:lnTo>
                    <a:pt x="0" y="133350"/>
                  </a:lnTo>
                  <a:lnTo>
                    <a:pt x="6350" y="133350"/>
                  </a:lnTo>
                  <a:lnTo>
                    <a:pt x="0" y="133350"/>
                  </a:lnTo>
                  <a:moveTo>
                    <a:pt x="12700" y="133350"/>
                  </a:moveTo>
                  <a:lnTo>
                    <a:pt x="12700" y="5911850"/>
                  </a:lnTo>
                  <a:lnTo>
                    <a:pt x="6350" y="5911850"/>
                  </a:lnTo>
                  <a:lnTo>
                    <a:pt x="12700" y="5911850"/>
                  </a:lnTo>
                  <a:cubicBezTo>
                    <a:pt x="12700" y="5978525"/>
                    <a:pt x="66802" y="6032500"/>
                    <a:pt x="133604" y="6032500"/>
                  </a:cubicBezTo>
                  <a:lnTo>
                    <a:pt x="21617178" y="6032500"/>
                  </a:lnTo>
                  <a:cubicBezTo>
                    <a:pt x="21683980" y="6032500"/>
                    <a:pt x="21738082" y="5978398"/>
                    <a:pt x="21738082" y="5911850"/>
                  </a:cubicBezTo>
                  <a:lnTo>
                    <a:pt x="21738082" y="133350"/>
                  </a:lnTo>
                  <a:cubicBezTo>
                    <a:pt x="21738082" y="66675"/>
                    <a:pt x="21683980" y="12700"/>
                    <a:pt x="21617178" y="12700"/>
                  </a:cubicBezTo>
                  <a:lnTo>
                    <a:pt x="133604" y="12700"/>
                  </a:lnTo>
                  <a:lnTo>
                    <a:pt x="133604" y="6350"/>
                  </a:lnTo>
                  <a:lnTo>
                    <a:pt x="133604" y="12700"/>
                  </a:lnTo>
                  <a:cubicBezTo>
                    <a:pt x="66802" y="12700"/>
                    <a:pt x="12700" y="66802"/>
                    <a:pt x="12700" y="133350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01763" y="2468166"/>
            <a:ext cx="16284473" cy="563166"/>
            <a:chOff x="0" y="0"/>
            <a:chExt cx="21712631" cy="7508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12682" cy="750951"/>
            </a:xfrm>
            <a:custGeom>
              <a:avLst/>
              <a:gdLst/>
              <a:ahLst/>
              <a:cxnLst/>
              <a:rect r="r" b="b" t="t" l="l"/>
              <a:pathLst>
                <a:path h="750951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750951"/>
                  </a:lnTo>
                  <a:lnTo>
                    <a:pt x="0" y="75095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28573" y="2548385"/>
            <a:ext cx="7683846" cy="36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Цель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75572" y="2548385"/>
            <a:ext cx="7683846" cy="36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Результат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01763" y="3031331"/>
            <a:ext cx="16284473" cy="563166"/>
            <a:chOff x="0" y="0"/>
            <a:chExt cx="21712631" cy="7508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712682" cy="750951"/>
            </a:xfrm>
            <a:custGeom>
              <a:avLst/>
              <a:gdLst/>
              <a:ahLst/>
              <a:cxnLst/>
              <a:rect r="r" b="b" t="t" l="l"/>
              <a:pathLst>
                <a:path h="750951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750951"/>
                  </a:lnTo>
                  <a:lnTo>
                    <a:pt x="0" y="7509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28573" y="3111551"/>
            <a:ext cx="7683846" cy="36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Обработка больших текстов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75572" y="3111551"/>
            <a:ext cx="7683846" cy="36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Разбиение на чанки, обработка до 10+ МБ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01763" y="3594497"/>
            <a:ext cx="16284473" cy="563166"/>
            <a:chOff x="0" y="0"/>
            <a:chExt cx="21712631" cy="75088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712682" cy="750951"/>
            </a:xfrm>
            <a:custGeom>
              <a:avLst/>
              <a:gdLst/>
              <a:ahLst/>
              <a:cxnLst/>
              <a:rect r="r" b="b" t="t" l="l"/>
              <a:pathLst>
                <a:path h="750951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750951"/>
                  </a:lnTo>
                  <a:lnTo>
                    <a:pt x="0" y="75095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28573" y="3674716"/>
            <a:ext cx="7683846" cy="36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Интеграция YandexGPT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75572" y="3674716"/>
            <a:ext cx="7683846" cy="36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Поддержка 3 моделей, оптимизированные промпты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01763" y="4157662"/>
            <a:ext cx="16284473" cy="563166"/>
            <a:chOff x="0" y="0"/>
            <a:chExt cx="21712631" cy="7508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712682" cy="750951"/>
            </a:xfrm>
            <a:custGeom>
              <a:avLst/>
              <a:gdLst/>
              <a:ahLst/>
              <a:cxnLst/>
              <a:rect r="r" b="b" t="t" l="l"/>
              <a:pathLst>
                <a:path h="750951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750951"/>
                  </a:lnTo>
                  <a:lnTo>
                    <a:pt x="0" y="7509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28573" y="4237882"/>
            <a:ext cx="7683846" cy="36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Умный поиск по тексту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75572" y="4237882"/>
            <a:ext cx="7683846" cy="36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TF-IDF-подобная оценка релевантности чанков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01763" y="4720828"/>
            <a:ext cx="16284473" cy="563166"/>
            <a:chOff x="0" y="0"/>
            <a:chExt cx="21712631" cy="75088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712682" cy="750951"/>
            </a:xfrm>
            <a:custGeom>
              <a:avLst/>
              <a:gdLst/>
              <a:ahLst/>
              <a:cxnLst/>
              <a:rect r="r" b="b" t="t" l="l"/>
              <a:pathLst>
                <a:path h="750951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750951"/>
                  </a:lnTo>
                  <a:lnTo>
                    <a:pt x="0" y="75095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228573" y="4801048"/>
            <a:ext cx="7683846" cy="36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Два режима работы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375572" y="4801048"/>
            <a:ext cx="7683846" cy="36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Вопросы и поиск фрагментов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01763" y="5283994"/>
            <a:ext cx="16284473" cy="563166"/>
            <a:chOff x="0" y="0"/>
            <a:chExt cx="21712631" cy="75088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712682" cy="750951"/>
            </a:xfrm>
            <a:custGeom>
              <a:avLst/>
              <a:gdLst/>
              <a:ahLst/>
              <a:cxnLst/>
              <a:rect r="r" b="b" t="t" l="l"/>
              <a:pathLst>
                <a:path h="750951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750951"/>
                  </a:lnTo>
                  <a:lnTo>
                    <a:pt x="0" y="7509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228573" y="5364213"/>
            <a:ext cx="7683846" cy="36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Поддержка интернета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375572" y="5364213"/>
            <a:ext cx="7683846" cy="36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Опциональное расширение ответов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01763" y="5847159"/>
            <a:ext cx="16284473" cy="563166"/>
            <a:chOff x="0" y="0"/>
            <a:chExt cx="21712631" cy="75088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712682" cy="750951"/>
            </a:xfrm>
            <a:custGeom>
              <a:avLst/>
              <a:gdLst/>
              <a:ahLst/>
              <a:cxnLst/>
              <a:rect r="r" b="b" t="t" l="l"/>
              <a:pathLst>
                <a:path h="750951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750951"/>
                  </a:lnTo>
                  <a:lnTo>
                    <a:pt x="0" y="75095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228573" y="5927379"/>
            <a:ext cx="7683846" cy="36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Кроссплатформенность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375572" y="5927379"/>
            <a:ext cx="7683846" cy="36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Адаптивная верстка, мобильная навигация, свайпы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001763" y="6410325"/>
            <a:ext cx="16284473" cy="563166"/>
            <a:chOff x="0" y="0"/>
            <a:chExt cx="21712631" cy="75088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712682" cy="750951"/>
            </a:xfrm>
            <a:custGeom>
              <a:avLst/>
              <a:gdLst/>
              <a:ahLst/>
              <a:cxnLst/>
              <a:rect r="r" b="b" t="t" l="l"/>
              <a:pathLst>
                <a:path h="750951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750951"/>
                  </a:lnTo>
                  <a:lnTo>
                    <a:pt x="0" y="7509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228573" y="6490545"/>
            <a:ext cx="7683846" cy="36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Интуитивный интерфейс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375572" y="6490545"/>
            <a:ext cx="7683846" cy="36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Понятные элементы, индикация загрузки, анимации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92238" y="7216978"/>
            <a:ext cx="6554391" cy="463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Не реализовано (на будущее)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92238" y="7914237"/>
            <a:ext cx="16303523" cy="153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63922" indent="-131961" lvl="1">
              <a:lnSpc>
                <a:spcPts val="2562"/>
              </a:lnSpc>
              <a:buFont typeface="Arial"/>
              <a:buChar char="•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Поддержка PDF и DOCX файлов</a:t>
            </a:r>
          </a:p>
          <a:p>
            <a:pPr algn="l" marL="263922" indent="-131961" lvl="1">
              <a:lnSpc>
                <a:spcPts val="2562"/>
              </a:lnSpc>
              <a:buFont typeface="Arial"/>
              <a:buChar char="•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Сохранение истории сессий</a:t>
            </a:r>
          </a:p>
          <a:p>
            <a:pPr algn="l" marL="263922" indent="-131961" lvl="1">
              <a:lnSpc>
                <a:spcPts val="2562"/>
              </a:lnSpc>
              <a:buFont typeface="Arial"/>
              <a:buChar char="•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Экспорт результатов</a:t>
            </a:r>
          </a:p>
          <a:p>
            <a:pPr algn="l" marL="263922" indent="-131961" lvl="1">
              <a:lnSpc>
                <a:spcPts val="2562"/>
              </a:lnSpc>
              <a:buFont typeface="Arial"/>
              <a:buChar char="•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Пользовательские аккаунты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367580"/>
            <a:ext cx="5916663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Выводы и Итоги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148783"/>
            <a:ext cx="8970759" cy="605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3562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Что мы получили в результате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3178816"/>
            <a:ext cx="4288927" cy="382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Ключевые достижения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3705073"/>
            <a:ext cx="7875089" cy="1860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63922" indent="-131961" lvl="1">
              <a:lnSpc>
                <a:spcPts val="2562"/>
              </a:lnSpc>
              <a:buFont typeface="Arial"/>
              <a:buChar char="•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Создан полностью функциональный инструмент для анализа текстов</a:t>
            </a:r>
          </a:p>
          <a:p>
            <a:pPr algn="l" marL="263922" indent="-131961" lvl="1">
              <a:lnSpc>
                <a:spcPts val="2562"/>
              </a:lnSpc>
              <a:buFont typeface="Arial"/>
              <a:buChar char="•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Обработка текстов любой длины через умное разбиение на чанки</a:t>
            </a:r>
          </a:p>
          <a:p>
            <a:pPr algn="l" marL="263922" indent="-131961" lvl="1">
              <a:lnSpc>
                <a:spcPts val="2562"/>
              </a:lnSpc>
              <a:buFont typeface="Arial"/>
              <a:buChar char="•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AI-ассистент дает релевантные ответы с указанием источников</a:t>
            </a:r>
          </a:p>
          <a:p>
            <a:pPr algn="l" marL="263922" indent="-131961" lvl="1">
              <a:lnSpc>
                <a:spcPts val="2562"/>
              </a:lnSpc>
              <a:buFont typeface="Arial"/>
              <a:buChar char="•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Пользовательский опыт продуман для всех типов устройств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30198" y="3178816"/>
            <a:ext cx="3311576" cy="382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Полученный опыт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30198" y="3705073"/>
            <a:ext cx="7875089" cy="1860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63922" indent="-131961" lvl="1">
              <a:lnSpc>
                <a:spcPts val="2562"/>
              </a:lnSpc>
              <a:buAutoNum type="arabicPeriod" startAt="1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Работа с большими объемами текста требует оптимальных алгоритмов разбиения</a:t>
            </a:r>
          </a:p>
          <a:p>
            <a:pPr algn="l" marL="263922" indent="-131961" lvl="1">
              <a:lnSpc>
                <a:spcPts val="2562"/>
              </a:lnSpc>
              <a:buAutoNum type="arabicPeriod" startAt="1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Качество промптов критически влияет на результат AI</a:t>
            </a:r>
          </a:p>
          <a:p>
            <a:pPr algn="l" marL="263922" indent="-131961" lvl="1">
              <a:lnSpc>
                <a:spcPts val="2562"/>
              </a:lnSpc>
              <a:buAutoNum type="arabicPeriod" startAt="1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Адаптивный дизайн значительно расширяет аудиторию</a:t>
            </a:r>
          </a:p>
          <a:p>
            <a:pPr algn="l" marL="263922" indent="-131961" lvl="1">
              <a:lnSpc>
                <a:spcPts val="2562"/>
              </a:lnSpc>
              <a:buAutoNum type="arabicPeriod" startAt="1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Важно давать пользователю визуальную обратную связь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5872905"/>
            <a:ext cx="5184877" cy="382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Возможности для развития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6489802"/>
            <a:ext cx="16303523" cy="153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63922" indent="-131961" lvl="1">
              <a:lnSpc>
                <a:spcPts val="2562"/>
              </a:lnSpc>
              <a:buFont typeface="Arial"/>
              <a:buChar char="•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Поддержка других форматов файлов (PDF, DOCX, EPUB)</a:t>
            </a:r>
          </a:p>
          <a:p>
            <a:pPr algn="l" marL="263922" indent="-131961" lvl="1">
              <a:lnSpc>
                <a:spcPts val="2562"/>
              </a:lnSpc>
              <a:buFont typeface="Arial"/>
              <a:buChar char="•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Сохранение истории анализов в БД</a:t>
            </a:r>
          </a:p>
          <a:p>
            <a:pPr algn="l" marL="263922" indent="-131961" lvl="1">
              <a:lnSpc>
                <a:spcPts val="2562"/>
              </a:lnSpc>
              <a:buFont typeface="Arial"/>
              <a:buChar char="•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Пользовательские аккаунты и настройки</a:t>
            </a:r>
          </a:p>
          <a:p>
            <a:pPr algn="l" marL="263922" indent="-131961" lvl="1">
              <a:lnSpc>
                <a:spcPts val="2562"/>
              </a:lnSpc>
              <a:buFont typeface="Arial"/>
              <a:buChar char="•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Выбор других AI-моделей (GigaChat, ChatGPT)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238" y="8190157"/>
            <a:ext cx="16303523" cy="69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Заключение:</a:t>
            </a: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BookGPT — это готовое решение для быстрого анализа текстов, которое может быть полезно студентам, исследователям, редакторам и всем, кто работает с большими объемами информации.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DAHE-0PTXTc</dc:identifier>
  <dcterms:modified xsi:type="dcterms:W3CDTF">2011-08-01T06:04:30Z</dcterms:modified>
  <cp:revision>1</cp:revision>
  <dc:title>BookGPT.pptx</dc:title>
</cp:coreProperties>
</file>